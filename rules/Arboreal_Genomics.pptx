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4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068176">
              <a:alpha val="12000"/>
            </a:srgbClr>
          </a:solidFill>
          <a:ln w="12700">
            <a:solidFill>
              <a:srgbClr val="0681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0"/>
            <a:ext cx="3657600" cy="3657600"/>
          </a:xfrm>
          <a:prstGeom prst="ellipse">
            <a:avLst/>
          </a:prstGeom>
          <a:solidFill>
            <a:srgbClr val="A2B568">
              <a:alpha val="10000"/>
            </a:srgbClr>
          </a:solidFill>
          <a:ln w="12700">
            <a:solidFill>
              <a:srgbClr val="A2B5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286000"/>
            <a:ext cx="365760" cy="0"/>
          </a:xfrm>
          <a:prstGeom prst="line">
            <a:avLst/>
          </a:prstGeom>
          <a:noFill/>
          <a:ln w="6350">
            <a:solidFill>
              <a:srgbClr val="06817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383280"/>
            <a:ext cx="502920" cy="0"/>
          </a:xfrm>
          <a:prstGeom prst="line">
            <a:avLst/>
          </a:prstGeom>
          <a:noFill/>
          <a:ln w="6350">
            <a:solidFill>
              <a:srgbClr val="06817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480560"/>
            <a:ext cx="640080" cy="0"/>
          </a:xfrm>
          <a:prstGeom prst="line">
            <a:avLst/>
          </a:prstGeom>
          <a:noFill/>
          <a:ln w="6350">
            <a:solidFill>
              <a:srgbClr val="06817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577840"/>
            <a:ext cx="777240" cy="0"/>
          </a:xfrm>
          <a:prstGeom prst="line">
            <a:avLst/>
          </a:prstGeom>
          <a:noFill/>
          <a:ln w="6350">
            <a:solidFill>
              <a:srgbClr val="06817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PRESENTATION  ·  NON-CODING DNA &amp; EVOLUTION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719072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Genomic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Matter to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Evolutionary Innovation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40080" y="4407408"/>
            <a:ext cx="5029200" cy="0"/>
          </a:xfrm>
          <a:prstGeom prst="line">
            <a:avLst/>
          </a:prstGeom>
          <a:noFill/>
          <a:ln w="12700">
            <a:solidFill>
              <a:srgbClr val="0681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Nair  ·  Muskan Vikas Bhagotra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974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Seminar  |  Molecular Biology &amp; Genomics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Topic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3291840" cy="19202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6128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107692"/>
            <a:ext cx="301752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human genome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non-coding DNA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1051560"/>
            <a:ext cx="4023360" cy="19202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266901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"Junk" → Regulatory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0" y="2297887"/>
            <a:ext cx="374904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dismissed; now understood 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architecture of the genome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66760" y="1051560"/>
            <a:ext cx="3291840" cy="19202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116128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503920" y="2107692"/>
            <a:ext cx="301752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genome shows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biochemical activity (ENCODE)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11155680" cy="31546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01568"/>
            <a:ext cx="54864" cy="283464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401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Central Insight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10789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genome is non-coding — yet this fraction is far from passive or silent.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DNA houses the regulatory circuitry that controls when, where, and how much each gene is expressed.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this regulatory layer — not just protein-coding mutations — are a primary driver of phenotypic diversity and evolutionary innovation.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non-coding regulation is the frontier of modern genomics and personalized medicine.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Non-Coding DNA?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sequences that do NOT encode protein-coding instructions.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regulatory and structural backbone of the genome.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"software" controlling the genome's hardware.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when, where, and how much protein is produced.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Classes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 — transcription initiation sites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 — long-range transcriptional amplifiers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Silencers — negative regulatory elements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Insulators — boundary / insulating elements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ncRNAs — miRNA, lncRNA, circRNA, piRNA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Transposable elements — mobile genomic sequences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Human Genome Composition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92440" y="1828800"/>
            <a:ext cx="3657600" cy="3657600"/>
          </a:xfrm>
          <a:prstGeom prst="ellipse">
            <a:avLst/>
          </a:prstGeom>
          <a:solidFill>
            <a:srgbClr val="068176">
              <a:alpha val="70000"/>
            </a:srgbClr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2651760"/>
            <a:ext cx="2011680" cy="2011680"/>
          </a:xfrm>
          <a:prstGeom prst="ellipse">
            <a:avLst/>
          </a:prstGeom>
          <a:solidFill>
            <a:srgbClr val="15282F"/>
          </a:solidFill>
          <a:ln w="12700">
            <a:solidFill>
              <a:srgbClr val="1146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274320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Protein-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29700" y="1344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~98% Non-Coding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005840"/>
            <a:ext cx="7132320" cy="8229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005840"/>
            <a:ext cx="164592" cy="82296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115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Transposable Elements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1155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~45%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2011680"/>
            <a:ext cx="7132320" cy="8229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011680"/>
            <a:ext cx="164592" cy="82296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21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Elements (Enh, Prom, Sil, Ins)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21214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7132320" cy="8229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17520"/>
            <a:ext cx="164592" cy="822960"/>
          </a:xfrm>
          <a:prstGeom prst="rect">
            <a:avLst/>
          </a:prstGeom>
          <a:solidFill>
            <a:srgbClr val="5A8A7D"/>
          </a:solidFill>
          <a:ln w="12700">
            <a:solidFill>
              <a:srgbClr val="5A8A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1272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Introns &amp; UTRs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31272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A8A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~26%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4023360"/>
            <a:ext cx="7132320" cy="8229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023360"/>
            <a:ext cx="164592" cy="822960"/>
          </a:xfrm>
          <a:prstGeom prst="rect">
            <a:avLst/>
          </a:prstGeom>
          <a:solidFill>
            <a:srgbClr val="697431"/>
          </a:solidFill>
          <a:ln w="12700">
            <a:solidFill>
              <a:srgbClr val="6974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330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ncRNAs &amp; Other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41330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97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7132320" cy="8229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5029200"/>
            <a:ext cx="164592" cy="822960"/>
          </a:xfrm>
          <a:prstGeom prst="rect">
            <a:avLst/>
          </a:prstGeom>
          <a:solidFill>
            <a:srgbClr val="8FAAAD"/>
          </a:solidFill>
          <a:ln w="12700">
            <a:solidFill>
              <a:srgbClr val="8FAA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1389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Protein-Coding Exons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5138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8FAA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" y="612648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once called 'Junk DNA' is now the control center of life."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ARGUMENT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Idea of This Seminar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155680" cy="20116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188720"/>
            <a:ext cx="9966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 is not only changes in proteins —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change is a primary source of evolutionary innovation.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5212080" cy="147517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3355848"/>
            <a:ext cx="54864" cy="134404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Change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776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mutations drive phenotypic diversity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regulatory shifts = large phenotypic effects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damaging core protein function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3246120"/>
            <a:ext cx="5212080" cy="147517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3355848"/>
            <a:ext cx="54864" cy="134404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383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 Expression Control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3776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DNA controls when and where genes activate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layer defines cell identity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complex multicellular development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016817"/>
            <a:ext cx="5212080" cy="1670685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5126545"/>
            <a:ext cx="54864" cy="15221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53977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Evolutionary Innovation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547169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regulatory interactions can emerge rapidly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networks are rewired for new functions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speciation and adaptation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5016817"/>
            <a:ext cx="5212080" cy="1670685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5126545"/>
            <a:ext cx="54864" cy="15221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5153977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5547169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species differences beyond protein sequences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mutations underlie human disease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genome is the next frontier of medicine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ELEMENTS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Regulatory Toolkit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3291840" cy="26060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15568"/>
            <a:ext cx="54864" cy="238658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430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572768"/>
            <a:ext cx="290779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site for RNA Polymerase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transcription start site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regulatory signals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direction &amp; efficiency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78808" y="1005840"/>
            <a:ext cx="3291840" cy="26060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78808" y="1115568"/>
            <a:ext cx="54864" cy="238658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1430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572768"/>
            <a:ext cx="290779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transcriptional amplifiers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independently of orientation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tissue-specific expression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&gt;1 Mb from target gene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54696" y="1005840"/>
            <a:ext cx="3291840" cy="26060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54696" y="1115568"/>
            <a:ext cx="54864" cy="238658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1430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Silencers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10728" y="1572768"/>
            <a:ext cx="290779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regulatory elements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repressor proteins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chromatin (HDAC)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negative regulation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3291840" cy="26060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4041648"/>
            <a:ext cx="54864" cy="238658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06908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Insulators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" y="4498848"/>
            <a:ext cx="290779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regulatory domain boundaries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wrong E-P interactions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heterochromatin spread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CTCF is the major binding protein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78808" y="3931920"/>
            <a:ext cx="3291840" cy="26060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78808" y="4041648"/>
            <a:ext cx="54864" cy="238658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406908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ncRNAs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4498848"/>
            <a:ext cx="290779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miRNA, lncRNA, circRNA, piRNA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Post-transcriptional regulation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remodeling scaffolds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extra regulatory layers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54696" y="3931920"/>
            <a:ext cx="3291840" cy="26060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54696" y="4041648"/>
            <a:ext cx="54864" cy="238658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0728" y="406908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Transposable Elements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10728" y="4498848"/>
            <a:ext cx="290779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genomic sequences (~45%)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regulatory sites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transcription networks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genome evolution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Promoters: The Starting Point of Transcription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 &amp;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directly upstream (5′ end) of the gene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~40 bp before the transcription start site (TSS)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TATA box, Initiator (Inr), and DPE motifs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required region = Core Promoter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Docking site for RNA Polymerase II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Recruits General Transcription Factors (GTFs)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exact start and direction of transcription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efficiency of gene activation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Hub Role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passive on-switch — actively integrates signals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input from enhancers via looping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transcription bursting and pausing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defines developmental programs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Promoter Architecture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11155680" cy="4937760"/>
        </p:xfrm>
        <a:graphic>
          <a:graphicData uri="http://schemas.openxmlformats.org/drawingml/2006/table">
            <a:tbl>
              <a:tblPr/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87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0E7E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Motif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0" marR="101600" marT="635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1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0E7E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Consensus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0" marR="101600" marT="635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1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0E7E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Position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0" marR="101600" marT="635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1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0E7E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Binding Factor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0" marR="101600" marT="635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1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0E7E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Role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0" marR="101600" marT="635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TATA-box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TATAWAWR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–31 to –24 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TBP (TFIID)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Orients the PIC; facilitates DNA melting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Initiator (Inr)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BBCABW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 to +3 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TAF1, TAF2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TSS; precise start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RGWCGTG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 to +33 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TAF6, TAF9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E7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Developmental control; Hox gene 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46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TCT Motif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YYCTTTYY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 to +6 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FAA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Ribosomal protein gene regulation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1600" marT="50800" marB="0" anchor="ctr">
                    <a:lnL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B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8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14476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sequence changes in these motifs can profoundly alter the timing, strength, and tissue-specificity of gene expression.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Promoters as Active Regulatory Hubs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Old View — Passive Switch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marker where transcription begins.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landing pad for transcription machinery.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as a structural element, not a regulatory one.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gene expression = change in enhancer only.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View — Active 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recruits RNA Polymerase II and GTFs.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signals from multiple enhancers simultaneously.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transcription bursting, pausing, and strength.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architecture defines complete developmental programs.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motifs (TATA, Inr, DPE) encode regulatory logic.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Pre-Initiation Complex (PIC)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GTF Binding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TFIID (containing TBP) recognizes TATA box or Inr motif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TFIIA and TFIIB stabilize the complex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Nucleates assembly at the TSS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2895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471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471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443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 II Recruitment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443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Polymerase II is escorted to the TSS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TFIIF helps stabilize Pol II binding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TFIIE and TFIIH are recruited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2074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650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622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Melting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622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TFIIH (helicase) unwinds ~11 bp at the TSS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complex formation exposes template strand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DNA stability near TSS facilitates melting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1253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829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829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801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801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first RNA nucleotides begins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 II often pauses 20–60 nt downstream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Awaits release signal for productive elongation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 —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Promoters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Constitutive Promoters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almost all cell types continuously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high, uninterrupted gene expression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environmental or developmental cues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CaMV 35S (plant), CMV (mammalian)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metabolic engineering &amp; screening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Tissue-Specific Promoters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restricted to specific organs or tissues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metabolic drain on non-target tissues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limited sets of tissue-specific TFs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MaEXPA1 (fruit), Banana expansin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precision gene therapy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Inducible Promoters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silent until a specific trigger is applied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temporal control over gene activity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control (activator) or negative (repressor)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Chemical, Environmental, Optogenetic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Tetracycline-inducible (Tet-ON/OFF)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Constitutive Promoters — Always Active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across virtually all tissue types and developmental stages.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continuous, high-level gene expression.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regulated by external or developmental signals.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associated with housekeeping genes.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dispersed promoter architecture with CpG islands.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CaMV 35S — The Workhorse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Cauliflower Mosaic Virus; 343 bp modular architecture.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plant biotechnology for over 40 years.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high-level expression across diverse plant species.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enhancer region can be separated from core.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may trigger gene silencing (methylation)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Tissue-Specific Promoters — Spatio-temporal Precision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Activator-Driven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limited, tissue-specific set of TFs activates the gene only in target cells.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TFs are only present/active in target tissue.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liver-specific HNF4α drives albumin expression.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Repressor-Driven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activators are present in many tissues, but local repressors silence the gene elsewhere.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repression ensures spatial restriction.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neural-restrictive silencer element (NRSE).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Epigenetic Control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Histone modification patterns maintain tissue-specific expression across cell divisions.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methylation locks promoters in silent states.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H3K27ac marks active tissue-specific enhancers nearby.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486400"/>
            <a:ext cx="11155680" cy="987552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6235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Example: MaEXPA1 (banana fruit-specific) used for targeted Vitamin A enhancement — expression only where needed, no metabolic cost to rest of plant.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Inducible Promoters — Triggered Response Systems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Chemical Induction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Tetracycline (Tet-ON/OFF system)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 — glucocorticoid response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Copper-inducible (CUP1 promoter)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Alcohol-inducible systems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Induction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Heat-shock response (hsp70 promoter)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Cold-stress induced elements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 / wound-response (PR genes)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Osmotic stress response elements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Optogenetic (Light)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Far-red light protein interactions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gene expression at 660 nm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remote control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chemical additives needed — clean system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486400"/>
            <a:ext cx="11155680" cy="987552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56235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Absolute temporal control — like a motion-sensor light, the gene stays off until you apply the exact trigger. Minimizes unintended side effects.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Focused and Dispersed Promoters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Focused (Sharp) Promoters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well-defined transcription start site.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fixed-position motifs (TATA, DPE) with strict spacing.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— ideal for tightly regulated developmental genes.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Drosophila body plan (Hox gene) promoters.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GTF binding requirements for optimal complex assembly.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Dispersed (Broad) Promoters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start sites spread over 50–100 bp.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for housekeeping (constitutively active) genes.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overlap with CpG Islands — high GC content.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rigid sequence motifs; flexible initiation platform.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Vertebrate genomes heavily feature dispersed promoters.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Promoter Directionality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155680" cy="54406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54864" cy="5102352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106527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 are strictly directional elements — they orient RNA Polymerase to transcribe the correct strand.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directionality ensures strand specificity: only the intended template strand is read, producing accurate, sense-strand RNA.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promoter architecture (TATA box, Inr, DPE positions) encodes the correct direction.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Directionality is reinforced by differential stability of transcripts from each direction.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promoters evolve U1 splice-site signals that protect forward (sense) transcripts from rapid degradation.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Antisense transcripts lack these protections and are rapidly degraded by the nuclear exosome.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Divergent Transcription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promoters initiate transcription in BOTH directions simultaneously.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Upstream Antisense RNAs (uaRNAs) / PROMPTs in the reverse direction.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transcription initiation is widespread and 'promiscuous'.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ground state of open chromatin is bidirectional initiation.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at edges of Nucleosome-Depleted Regions (NDRs).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Antisense (uaRNA) transcripts are short and rapidly degraded by the exosome.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promoters stabilize the FORWARD transcript via U1 snRNP binding.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promoter's primary job: stabilize the correct direction over background noise.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initiation logic between enhancers and promoters — both fire bidirectionally.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model: enhancers as proto-promoters that lost stability selection.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Enhancers: Long-Range Gene Regulators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6984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DNA sequences (~200–500 bp)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Non-coding; do NOT encode protein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identified in SV40 viral DNA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mRNA production when paired with a promoter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06984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Properties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independently of orientation (can be flipped)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Position-independent: upstream, downstream, or introns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function over hundreds of kb — or even Mb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tissue-specific and environment-responsive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5876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sequence-specific Transcription Factors (TFs)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factors (e.g., FoxA1) open chromatin first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co-activators (p300/CBP, Mediator)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physical contact with promoter via 3D looping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85876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 Role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controllers of tissue-specific gene expression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developmental-stage specific programs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knobs for gene expression output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feature of complex eukaryotic organisms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Enhancer–Promoter Communication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 Binding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Sequence-specific TFs bind enhancer motifs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factors open compacted chromatin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Co-activators (p300) are recruited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2895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471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471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443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Chromatin Looping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443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folds in 3D; enhancer contacts promoter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Cohesin and CTCF stabilize the loop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HMG proteins facilitate DNA bending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2074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650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622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Mediator Bridge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622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 complex bridges TFs to Pol II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Pre-Initiation Complex (PIC)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DNA melting at TSS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1253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829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829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801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Transcription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801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 II initiates RNA synthesis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is transient — collapses upon elongation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eRNAs are produced as activity markers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Enhancers and Cell-Type Specificity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155680" cy="54406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54864" cy="5093208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type uses a unique set of enhancers — the same gene can be ON in liver cells and OFF in neurons, depending on which enhancers are active.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Tissue-specific TFs bind only certain enhancers, restricting expression to relevant tissues (e.g., a liver enhancer only works in hepatocytes).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development, specific enhancers are sequentially activated, precisely controlling when each gene turns 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Super-Enhancers — large clusters of enhancers — drive very high expression of key cell identity genes (e.g., Oct4 in stem cells).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 activity can be tracked by histone mark H3K27ac; poised enhancers carry H3K4me1 but lack H3K27ac.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Disrupting an enhancer can silence a gene in a specific tissue without affecting the rest of the organism — this makes enhancers prime targets for disease and therapy.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 — TYPES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Enhancers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6984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Enhancers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elements (~200–500 bp)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cell-specific gene regulation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TF cluster contact with target promoter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Alpha-globin enhancer (RBC-specific Hb production)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06984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Super-Enhancers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tens of kilobases; densely occupied by TFs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extremely high expression of identity genes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cell-type defining programs (e.g., pluripotency)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hijacking in cancer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5876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Poised Enhancers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Epigenetically primed before activation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H3K4me1 (permissive) but lack H3K27ac (active)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stem cells awaiting differentiation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LSD1-NuRD complex decommissions them upon cell exit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85876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eRNA Transcripts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enhancers produce short, unstable eRNAs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Non-polyadenylated; rapidly degraded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presence is a marker of enhancer activity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 levels precede target gene expression changes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Enhancers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&amp; Properties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DNA elements (~200–500 bp) bound by TFs and co-activators.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target promoter via chromatin looping.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transcription independently of orientation.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for H3K27ac when active, H3K4me1 when poised.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nucleosome-depleted open chromatin regions.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Alpha-Globin Enhancer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 active in red blood cells (RBCs).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hemoglobin is produced only in erythrocytes.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GATA-1, a pioneer TF specific to RBC lineage.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brings it into contact with the globin promoter.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 of tissue-specific enhancer regulation.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Poised Enhancers — Primed for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 pre-marked in stem cells before differentiation.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Epigenetically primed but transcriptionally inactive.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H3K4me1 present (permissive); H3K27ac absent (not yet active).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ESCs: may also carry H3K27me3 (repressive bivalency).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 of Activation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signal triggers TF recruitment.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p300/CBP adds H3K27ac — enhancer activates.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loop to target promoter forms.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eRNAs begin to be produced as activity marker.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Decommissioning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LSD1-NuRD complex removes H3K4me1 on exit.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H3K4me1 removal prevents cells from re-entering stem state.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LSD1 impairs proper differentiation.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cells 'forget' their stem-cell enhancer landscape.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Super-Enhancers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Super-Enhancers?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clusters of typical enhancers spanning tens of kilobases.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Densely occupied by transcription factors and chromatin regulators.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very high expression of cell identity genes.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by massive H3K27ac signal and Mediator/BRD4 occupancy.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Disproportionately control genes that define cell fate (e.g., Oct4 in stem cells).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in Disease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cells hijack super-enhancers to drive oncogene expression.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Super-enhancer formation near proto-oncogenes is a key cancer mechanism.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inhibitors (e.g., JQ1) disrupt BRD4 at super-enhancers selectively.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inhibition shows promise in leukemia and myeloma treatment.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 screens targeting super-enhancers identify cancer vulnerabilities.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Enhancer RNAs (eRNAs)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eRNAs?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non-polyadenylated RNAs transcribed from active enhancers.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&lt;2 kb; bidirectionally produced.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the transcription initiation capacity of enhancers.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discovered by Kim et al. (2010).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unstable — rapidly degraded by the exosome.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Non-polyadenylated (lack 3′ poly-A tail).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 levels precede target gene induction.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presence is the gold standard marker of enhancer activity.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Significance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that enhancers recruit Pol II and GTFs.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enhancers are active transcription units.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 transcription mirrors the looping state.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proxies for active regulatory regions in ChIP-seq/ATAC-seq.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Enhancer–Promoter Compatibility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155680" cy="18288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972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"Enhancers do NOT activate all promoters equally — promoter architecture determines which enhancers it will respond to."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5212080" cy="34290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3200400"/>
            <a:ext cx="54864" cy="31546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278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DPE-Specific Enhancers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promoters with the Downstream Promoter Element (DPE).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DPE-specific enhancers cannot efficiently activate TATA-box promoters.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 Drosophila body plan (Dorsal–Ventral patterning).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Hox gene promoters rely on DPE–enhancer compatibility.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3063240"/>
            <a:ext cx="5212080" cy="34290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3200400"/>
            <a:ext cx="54864" cy="31546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2278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TATA-Specific Enhancers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65760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promoters with a canonical TATA box sequence.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with DPE-containing promoters.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specificity creates transcriptional precision.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different genes respond to different enhancers even in the same cell.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ELEMENTS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Silencers — Negative Regulators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&amp;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DNA sequences that repress gene expression.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transcriptional repressor proteins.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located upstream, downstream, or within introns.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overlapping with enhancers in regulatory landscapes.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Mechanisms of Repression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block RNA Polymerase binding to promoter.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Histone Deacetylases (HDACs) to compact chromatin.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 chromatin → DNA becomes inaccessible.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recruit Polycomb Repressive Complexes (PRC1/2).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 Importance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negative regulation in development.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tissue-specific silencing of inappropriate genes.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boundaries between active and silent chromatin.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in silencers linked to developmental disorders and cancer.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ELEMENTS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Insulators — Boundary Elements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CTCF &amp; Insulator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Insulators are genetic 'border controls' bound by the CTCF protein.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CTCF is the primary insulator-binding protein in vertebrates.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concert with Cohesin to define loop domain boundaries.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organizing the 3D genome into Topologically Associating Domains (TADs).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 boundaries insulate regulatory programs from neighboring gene loci.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Core Activities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ENHANCER-BLOCKING: Prevent an enhancer from activating the wrong promoter when positioned between them.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ACTIVITY: Stop the spread of heterochromatin (silenced DNA) into active chromatin regions.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of CTCF sites = TAD boundary breakdown = disease.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CTCF mutations at the PDGFRA locus cause glioma by enabling an ectopic enhancer contact.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ELEMENTS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Boundary Elements Matter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6984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Fidelity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correct enhancer–promoter partnerships.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each gene responds only to its intended regulatory inputs.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mis-wiring of transcription networks.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06984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 Network Separation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independently regulated gene programs in separate topological domains.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neighboring genes to have completely different expression patterns.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complex metazoan development.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5876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Heterochromatin Barriers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spread of silencing marks (H3K9me3, DNA methylation).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active genes from being silenced by neighboring heterochromatin.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active chromatin identity in differentiated cells.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85876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Consequences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 disruption links to limb malformations, cancer, and neurological disorders.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variants removing CTCF sites cause developmental syndromes.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TADs is key to interpreting non-coding disease mutations.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Non-Coding RNA Regulatory Layer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155680" cy="14630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972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RNA is not only a messenger — it is a diverse functional molecule that regulates gene expression at transcriptional and post-transcriptional levels.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5212080" cy="38404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788920"/>
            <a:ext cx="54864" cy="356616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16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ncRNAs (&lt; 200 nt)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4754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conserved across species.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miRNA — post-transcriptional regulators; bind mRNA 3′ UTR.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siRNA — defense against viruses and transposons.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piRNA — silence transposons in germ cells.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snRNA — splicing (U1, U2, U4-U6 snRNAs).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2651760"/>
            <a:ext cx="5212080" cy="38404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788920"/>
            <a:ext cx="54864" cy="356616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2816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ncRNAs (&gt; 200 nt)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3246120"/>
            <a:ext cx="47548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Diverse, less conserved, complex 3D structures.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lncRNA — chromatin remodelers, scaffolds, decoys, guides.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circRNA — stable closed loops; sponge miRNAs.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 — transcribed from active enhancers; activity markers.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lncRNAs coordinate large-scale chromatin domains.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MicroRNAs (miRNA) — Small but Mighty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Biogenesis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as pri-miRNA by Pol II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Drosha/DGCR8 cleave to pre-miRNA (~70 nt)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to cytoplasm by Exportin-5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2895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471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471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443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443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Dicer cleaves pre-miRNA to ~22 nt duplex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strand (guide) loaded into RISC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strand degraded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2074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650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622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Recognition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622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strand in RISC scans mRNA 3′ UTR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sequence (nt 2–8) binds complementary site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complementarity = most animal miRNA interactions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1253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829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829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801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 Silencing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801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match → mRNA cleavage by AGO2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match → translational repression &amp; mRNA decay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miRNA can regulate hundreds of target genes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Non-Coding RNAs (lncRNAs)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6984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&gt;200 nucleotides in length; transcribed by Pol II.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and often spliced, like mRNAs.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Diverse, less conserved than mRNAs.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expressed in tissue-specific patterns.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06984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Scaffolds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large protein complexes for chromatin modification.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HOTAIR recruits PRC2 and LSD1 to silence Hox genes.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molecular bridges between proteins.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multi-component regulatory machinery.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5876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Decoys &amp; Guides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Decoys: Bind and sequester TFs away from targets.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Guides: Direct chromatin-modifying enzymes to specific loci.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XIST lncRNA coats entire Xi chromosome to silence it.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 X-chromosome inactivation and imprinting.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85876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Development &amp; Disease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lncRNAs help establish and maintain cell identity.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dysregulated in cancer (oncogenic or tumor-suppressive).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MALAT1 overexpression correlates with metastasis.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targets for RNA-based therapies.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Circular RNAs (circRNAs)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covalently closed loops via 'back-splicing'.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splice donor joins an upstream acceptor site.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free 5′ or 3′ ends — resistant to exonucleases.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Exceptionally stable compared to linear RNAs.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divergent-read RNA-seq methods.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miRNA 'sponges' — sequester miRNAs to prevent target silencing.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ciRS-7 (CDR1as) sponges miR-7 in the brain.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also regulate protein-protein interactions.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translated into peptides in stress conditions.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makes them potential disease biomarkers.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 ncRNAs — Defense and Genome Control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siRNA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~21–23 nt double-stranded RNA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sequence-specific mRNA cleavage via RISC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against exogenous viruses and transgenes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RNAi gene silencing technology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~24–31 nt; germline-specific small RNAs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transposon expression in gonads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PIWI proteins (not Ago family)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Ping-pong amplification loop generates more piRNAs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germline genome stability across generations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Genome Stability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siRNA &amp; piRNA form the genome's immune system against mobile elements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transposon jumping = maintain genome integrity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leads to sterility and elevated mutation rates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influence evolutionary control of TE spread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ncRNAs and Evolutionary Adaptation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155680" cy="54406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54864" cy="5102352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6527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ncRNAs can rapidly rewire gene regulatory networks without altering protein-coding sequences — making them powerful tools for evolutionary change.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new miRNA can shift the expression of hundreds of target genes, creating systemic phenotypic change with a small genomic footprint.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lncRNAs evolve faster than protein-coding genes, allowing regulatory innovation to accumulate rapidly in a lineage.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rapid evolution of ncRNA regulatory layers helps explain how morphologically distinct species can share highly similar proteomes.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piRNAs provide genome defense that co-evolves with transposons — an evolutionary arms race that shapes genome structure over generations.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ncRNA-based regulation is subtle: it tunes expression levels rather than switching genes on or off, providing fine-grained adaptive control.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TRANSPOSABLE ELEMENTS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Transposable Elements — Jumping Genes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41148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390906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 — Retrotransposons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&amp; Paste mechanism via an RNA intermediate.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LINE-1 (L1): Most abundant TE in human genome (~17%).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elements (SINEs): ~11% of the genome; primate-specific.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Retrotranspose: transcribed to RNA → reverse transcribed → re-inserted.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carry regulatory sequences (TF binding sites) to new locations.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41148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390906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II — DNA Transposons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&amp; Paste mechanism — move directly as DNA.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Transposase enzyme cuts element out and inserts elsewhere.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now fossil (non-autonomous) in the human genome.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disrupt genes or create new regulatory variants at insertion sites.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important in driving chromosomal rearrangements.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5532120"/>
            <a:ext cx="2926080" cy="914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5641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human genome = 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5532120"/>
            <a:ext cx="4663440" cy="914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6200" y="57942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"Jumping Genes" — Barbara McClintock, Nobel Prize 1983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86200" y="6035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32520" y="5532120"/>
            <a:ext cx="2926080" cy="914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0" y="5641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974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LINE-1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869680" y="60350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~500,000 copies in human genome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TRANSPOSABLE ELEMENTS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Evolutionary Role of Transposable Elements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6984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Regulatory Sites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carry TF binding sites that create new promoters/enhancers at insertion.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human TF binding sites derive from TE-embedded sequences.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 insertion can wire a gene into new regulatory networks.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06984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Reshaping Networks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masse TE insertions can co-regulate groups of genes simultaneously.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 TE expansions contribute to lineage-specific regulatory novelty.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genome's regulatory landscape is partly TE-shaped.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5876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Genome Innovation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contribute to exon shuffling and alternative splicing.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donate regulatory sequences (e.g., Alu elements in primate regulatory networks).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Syncytin genes (essential for placenta) derived from retroviral 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85876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Just Parasites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view: TEs are obligate genomic symbionts.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genome controls TEs via epigenetics (DNA methylation, piRNAs).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control fails (cancer), TEs reactivate and drive instability.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EPIGENETICS &amp; DEVELOPMENT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Epigenetic Memory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DNA Methylation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methyl group to cytosine (5mC) in CpG contexts.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represses transcription — 'turns genes off'.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through DNA replication by DNMT1.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methylation correlates with stable gene silencing.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097280"/>
            <a:ext cx="54864" cy="525780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Histone Modifications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Acetylation (H3K27ac): relaxes chromatin → gene activation.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Methylation (H3K4me3): active promoter mark.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H3K27me3: Polycomb-mediated silencing.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H3K9me3: constitutive heterochromatin mark.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960120"/>
            <a:ext cx="3474720" cy="553212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097280"/>
            <a:ext cx="54864" cy="525780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1247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Cellular Memory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8472" y="1600200"/>
            <a:ext cx="30906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marks allow cells to 'remember' their identity through division.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tissue-specific expression programs stably.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robustness to developmental specification.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evolutionary robustness of body plans.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EPIGENETICS &amp; DEVELOPMENT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and Differentiation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 Cell 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flexible chromatin landscape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Poised enhancers (H3K4me1) mark developmental genes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Bivalent promoters: H3K4me3 + H3K27me3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Pluripotency maintained by OCT4/SOX2/NANOG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2895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471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471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443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Differentiation Signal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443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Lineage-specific TFs are activated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enhancers gain H3K27ac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Inappropriate enhancers are decommissioned (LSD1)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 structure reinforces lineage choice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2074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650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622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Organogenesis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622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TADs lock in regulatory loops for identity genes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enhancer–promoter contacts established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RNAs (lncRNAs) help maintain chromatin states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Cell-type specific eRNA patterns emerge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1253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829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829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801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Mature Tissue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801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epigenetic landscape maintains identity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enhancers fixed; others heterochromatic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efficient, specific gene expression programs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 memory propagated through division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EPIGENETICS &amp; DEVELOPMENT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Orchestrating Development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155680" cy="54406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70432"/>
            <a:ext cx="54864" cy="5102352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63040"/>
            <a:ext cx="106527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Promoters, enhancers, insulators, and epigenetic marks work as an integrated, multi-layered system — not as isolated components.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developmental stage, a unique combination of TFs activates specific enhancers, which contact specific promoters within defined TAD boundaries.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orchestration turns on the right genes at the right time in the right tissue — driving organ formation and cell specialization.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non-coding regulatory genome is essentially the 'developmental program' written in the DNA.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this program — even in non-coding sequence — can be as devastating as mutations in the protein-coding genome.</a:t>
            </a:r>
            <a:endParaRPr lang="en-US" sz="14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Conservation versus Variation in Non-Coding DNA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Conserved Elements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Ultraconserved Elements (UCEs): identical across human, mouse, and even zebrafish.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signals functional constraint — these sequences cannot change without fitness cost.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regulatory elements near developmental transcription factors.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Human–mouse conservation reveals essential gene regulatory modules.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Loss-of-function knockouts of some UCEs show embryonic or developmental defects.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Elements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enhancers evolve rapidly between species — especially in lineage-specific contexts.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non-coding regions are the substrate for evolutionary innovation.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Species-specific TE insertions create novel enhancers unique to a lineage.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 regulatory sequences explains much of the phenotypic diversity between closely related species.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genome evolves faster than the protein-coding genome.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Non-Coding DNA Drives Evolution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6984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Effects, Small Changes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mutations can create dramatic phenotypic change with minimal sequence alteration.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enhancer gain or loss can alter an entire developmental program.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'evolvable' than changing protein sequences.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06984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 Protein Disruption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changes can tune expression without altering the protein itself.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protein machinery (enzymes, structural proteins) can remain intact.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gradual, fine-grained evolutionary refinement.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5876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Species Differences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vs. chimp differ &lt;2% in protein-coding sequence but diverge dramatically in regulation.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variation explains brain size, morphology, and behavior differences.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genome is where species identity is encoded.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85876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Source of Adaptation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evolution is the primary mechanism of phenotypic adaptation.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pigmentation, limb length, beak shape — largely regulatory.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differences between populations are mostly regulatory.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Rewiring in Evolution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Interactions Emerge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insertion creates new TF binding site near a gene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enhancer–promoter contact wires gene into a new regulatory module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happen rapidly on evolutionary timescales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2895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471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9471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443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Modification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443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regulatory networks are modified by small non-coding mutations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TF binding affinity alter network topology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drift contributes to neutral evolutionary change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2074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650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9622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 Changes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622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mutations change when a gene is activated during development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Heterochrony: evolutionary shift in developmental timing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changes in Hox enhancers alter vertebral column patterning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12530" y="3383280"/>
            <a:ext cx="320040" cy="0"/>
          </a:xfrm>
          <a:prstGeom prst="line">
            <a:avLst/>
          </a:prstGeom>
          <a:noFill/>
          <a:ln w="19050">
            <a:solidFill>
              <a:srgbClr val="0681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78290" y="1737360"/>
            <a:ext cx="2480310" cy="329184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8290" y="1847088"/>
            <a:ext cx="2480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8018" y="2286000"/>
            <a:ext cx="2260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Traits Emerge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8018" y="2743200"/>
            <a:ext cx="226085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rewiring generates novel morphologies and behaviors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regulatory connections = new cell types and body plans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genome is the engine of macroevolution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ENCODE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54864" cy="5212080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ENCODE?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Encyclopedia of DNA Elements — launched in 2003 by NHGRI.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international consortium to map all functional elements in the human genome.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(pilot): covered 1% of the genome.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(2012): covered the entire human genome.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phases continue to add cell-type specific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005840"/>
            <a:ext cx="5212080" cy="5486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143000"/>
            <a:ext cx="54864" cy="5212080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1600200"/>
            <a:ext cx="47548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80% of the human genome shows biochemical activity.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Debunked the 'Junk DNA' concept definitively.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&gt;2 million regulatory elements (enhancers, promoters, silencers).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widespread ncRNA transcription across the genome.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a foundational reference for interpreting non-coding disease variants.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Disease Relevance of Non-Coding DNA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6984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mutations activate oncogenes or silence tumor suppressors.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Super-enhancer hijacking drives oncogene overexpression.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 promoter mutations are the most common non-coding cancer mutation.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96012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06984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0972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Developmental Disorders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149047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 boundary disruptions cause limb malformations.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Enhancer mutations cause Hirschsprung disease, congenital heart defects.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GWAS variants explain most of heritable disease risk.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858768"/>
            <a:ext cx="54864" cy="2249424"/>
          </a:xfrm>
          <a:prstGeom prst="rect">
            <a:avLst/>
          </a:prstGeom>
          <a:solidFill>
            <a:srgbClr val="068176"/>
          </a:solidFill>
          <a:ln w="12700">
            <a:solidFill>
              <a:srgbClr val="0681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GWAS Variants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 of GWAS-identified disease SNPs are in non-coding regions.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affect regulatory elements (enhancers, promoters, insulators).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their function requires mapping the regulatory landscape.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749040"/>
            <a:ext cx="5212080" cy="2468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3858768"/>
            <a:ext cx="54864" cy="2249424"/>
          </a:xfrm>
          <a:prstGeom prst="rect">
            <a:avLst/>
          </a:prstGeom>
          <a:solidFill>
            <a:srgbClr val="A2B568"/>
          </a:solidFill>
          <a:ln w="12700">
            <a:solidFill>
              <a:srgbClr val="A2B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38862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Therapeutic Targets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4279392"/>
            <a:ext cx="4800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BCL11A enhancer editing restores fetal hemoglobin in sickle cell disease.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inhibitors target super-enhancers in leukemia.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 enables precise non-coding therapeutic editing.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217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Synthesis — The Regulatory Chain of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02895" y="2651760"/>
            <a:ext cx="2468880" cy="21945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3015" y="2377440"/>
            <a:ext cx="548640" cy="548640"/>
          </a:xfrm>
          <a:prstGeom prst="ellipse">
            <a:avLst/>
          </a:prstGeom>
          <a:solidFill>
            <a:srgbClr val="068176"/>
          </a:solidFill>
          <a:ln w="25400">
            <a:solidFill>
              <a:srgbClr val="1528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3015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8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2623" y="29718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Non-Coding DNA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2623" y="35661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Promoters, Enhancers,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Silencers, Insulators, ncRNAs, 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0955" y="2651760"/>
            <a:ext cx="2468880" cy="21945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31075" y="2377440"/>
            <a:ext cx="548640" cy="548640"/>
          </a:xfrm>
          <a:prstGeom prst="ellipse">
            <a:avLst/>
          </a:prstGeom>
          <a:solidFill>
            <a:srgbClr val="A2B568"/>
          </a:solidFill>
          <a:ln w="25400">
            <a:solidFill>
              <a:srgbClr val="1528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0406" y="24003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8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0683" y="29718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Controls Regulation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0683" y="35661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where, and how much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occurs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8346" y="2651760"/>
            <a:ext cx="2468880" cy="21945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08466" y="2377440"/>
            <a:ext cx="548640" cy="548640"/>
          </a:xfrm>
          <a:prstGeom prst="ellipse">
            <a:avLst/>
          </a:prstGeom>
          <a:solidFill>
            <a:srgbClr val="068176"/>
          </a:solidFill>
          <a:ln w="25400">
            <a:solidFill>
              <a:srgbClr val="1528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082" y="24003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8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8074" y="29718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Shapes Phenotype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8074" y="35661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identity, organ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development, organismal traits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207075" y="2651760"/>
            <a:ext cx="2468880" cy="219456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167195" y="2377440"/>
            <a:ext cx="548640" cy="548640"/>
          </a:xfrm>
          <a:prstGeom prst="ellipse">
            <a:avLst/>
          </a:prstGeom>
          <a:solidFill>
            <a:srgbClr val="A2B568"/>
          </a:solidFill>
          <a:ln w="25400">
            <a:solidFill>
              <a:srgbClr val="1528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85857" y="23852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28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16803" y="297180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Drives Evolution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6803" y="3566160"/>
            <a:ext cx="2249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rewiring generates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traits and species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1371600"/>
            <a:ext cx="11155680" cy="9144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144475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Therefore: Non-coding DNA is not peripheral — it is the central architect of biological complexity and evolutionary change.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81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532120" cy="16002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61288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280160" y="1280160"/>
            <a:ext cx="0" cy="1143000"/>
          </a:xfrm>
          <a:prstGeom prst="line">
            <a:avLst/>
          </a:prstGeom>
          <a:noFill/>
          <a:ln w="6350">
            <a:solidFill>
              <a:srgbClr val="6974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18872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DNA is NOT junk — it is the regulatory architecture of the genome, controlling 98% of the DNA.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051560"/>
            <a:ext cx="5532120" cy="16002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161288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7132320" y="1280160"/>
            <a:ext cx="0" cy="1143000"/>
          </a:xfrm>
          <a:prstGeom prst="line">
            <a:avLst/>
          </a:prstGeom>
          <a:noFill/>
          <a:ln w="6350">
            <a:solidFill>
              <a:srgbClr val="6974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18872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Promoters, enhancers, silencers, and insulators form an integrated regulatory toolkit that determines gene expression programs.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5532120" cy="16002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35808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1280160" y="3154680"/>
            <a:ext cx="0" cy="1143000"/>
          </a:xfrm>
          <a:prstGeom prst="line">
            <a:avLst/>
          </a:prstGeom>
          <a:noFill/>
          <a:ln w="6350">
            <a:solidFill>
              <a:srgbClr val="6974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06324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ncRNAs add additional layers of post-transcriptional and chromatin-level control, expanding the regulatory repertoire.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2926080"/>
            <a:ext cx="5532120" cy="16002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035808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7132320" y="3154680"/>
            <a:ext cx="0" cy="1143000"/>
          </a:xfrm>
          <a:prstGeom prst="line">
            <a:avLst/>
          </a:prstGeom>
          <a:noFill/>
          <a:ln w="6350">
            <a:solidFill>
              <a:srgbClr val="6974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306324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Transposable elements are not merely genomic parasites — they are major contributors to regulatory innovation and genome evolution.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5532120" cy="16002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910328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81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1280160" y="5029200"/>
            <a:ext cx="0" cy="1143000"/>
          </a:xfrm>
          <a:prstGeom prst="line">
            <a:avLst/>
          </a:prstGeom>
          <a:noFill/>
          <a:ln w="6350">
            <a:solidFill>
              <a:srgbClr val="6974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493776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Non-coding regulatory changes are a primary driver of evolutionary innovation, explaining phenotypic diversity without altering proteins.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4800600"/>
            <a:ext cx="5532120" cy="160020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4910328"/>
            <a:ext cx="594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7132320" y="5029200"/>
            <a:ext cx="0" cy="1143000"/>
          </a:xfrm>
          <a:prstGeom prst="line">
            <a:avLst/>
          </a:prstGeom>
          <a:noFill/>
          <a:ln w="6350">
            <a:solidFill>
              <a:srgbClr val="6974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493776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non-coding genome is the defining challenge and opportunity of 21st-century genomics and precision medicine.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5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340">
              <a:alpha val="30000"/>
            </a:srgbClr>
          </a:solidFill>
          <a:ln w="12700">
            <a:solidFill>
              <a:srgbClr val="1528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8176">
              <a:alpha val="12000"/>
            </a:srgbClr>
          </a:solidFill>
          <a:ln w="12700">
            <a:solidFill>
              <a:srgbClr val="06817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A2B568">
              <a:alpha val="10000"/>
            </a:srgbClr>
          </a:solidFill>
          <a:ln w="12700">
            <a:solidFill>
              <a:srgbClr val="A2B56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0E7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2743200" y="3200400"/>
            <a:ext cx="6675120" cy="0"/>
          </a:xfrm>
          <a:prstGeom prst="line">
            <a:avLst/>
          </a:prstGeom>
          <a:noFill/>
          <a:ln w="12700">
            <a:solidFill>
              <a:srgbClr val="0681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2B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Nair  ·  Muskan Vikas Bhagotra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Seminar — Non-Coding Regulatory Elements &amp; Evolutionary Innovation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0" y="5166360"/>
            <a:ext cx="8503920" cy="1325880"/>
          </a:xfrm>
          <a:prstGeom prst="rect">
            <a:avLst/>
          </a:prstGeom>
          <a:solidFill>
            <a:srgbClr val="114643">
              <a:alpha val="72000"/>
            </a:srgbClr>
          </a:solidFill>
          <a:ln w="9525">
            <a:solidFill>
              <a:srgbClr val="A2B568">
                <a:alpha val="18000"/>
              </a:srgbClr>
            </a:solidFill>
            <a:prstDash val="solid"/>
          </a:ln>
          <a:effectLst>
            <a:outerShdw blurRad="2286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5230368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"Non-coding DNA is the regulatory architecture of the genome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E0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roots that shape the evolutionary tree of life."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5405</Words>
  <Application>Microsoft Office PowerPoint</Application>
  <PresentationFormat>Widescreen</PresentationFormat>
  <Paragraphs>844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Genomic Dark Matter to Evolutionary Innovation</dc:title>
  <dc:subject>PptxGenJS Presentation</dc:subject>
  <dc:creator>Aaditya Nair &amp; Muskan Vikas Bhagotra</dc:creator>
  <cp:lastModifiedBy>Vannya V Yagwin</cp:lastModifiedBy>
  <cp:revision>3</cp:revision>
  <dcterms:created xsi:type="dcterms:W3CDTF">2026-04-29T22:02:29Z</dcterms:created>
  <dcterms:modified xsi:type="dcterms:W3CDTF">2026-04-30T08:50:27Z</dcterms:modified>
</cp:coreProperties>
</file>